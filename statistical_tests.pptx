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56032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40280"/>
            <a:ext cx="109728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0C8C8"/>
                </a:solidFill>
                <a:latin typeface="Calibri"/>
              </a:rPr>
              <a:t>02445 - Statistical Evaluation of AI   |   midway check-in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Does Gemma do worse on graphs than on text?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F5E6E6"/>
                </a:solidFill>
                <a:latin typeface="Calibri"/>
              </a:rPr>
              <a:t>The statistical tests we use - are they appropriate?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98348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Gemma 4 answers 405 DTU ML exam multiple-choice questions (options A-D, plus E = don't know).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Outcome is binary: correct / wrong, scored against the official answer key.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8C8"/>
                </a:solidFill>
                <a:latin typeface="Calibri"/>
              </a:rPr>
              <a:t>WHAT WE GIVE GEMMA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The same question, two formats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55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Consider the split in Table 3. We build a classification tree with only this split and evaluate it on the same data it was trained on. What is the accuracy?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A5A5A"/>
                </a:solidFill>
                <a:latin typeface="Calibri"/>
              </a:rPr>
              <a:t>A. 0.64     B. 0.29     C. 0.35     D. 0.43     E. Don't know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97480"/>
            <a:ext cx="5486400" cy="2743200"/>
          </a:xfrm>
          <a:prstGeom prst="roundRect">
            <a:avLst/>
          </a:prstGeom>
          <a:solidFill>
            <a:srgbClr val="F2EFEC"/>
          </a:solidFill>
          <a:ln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90000"/>
                </a:solidFill>
                <a:latin typeface="Calibri"/>
              </a:rPr>
              <a:t>GIVEN AS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50292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onsolas"/>
              </a:rPr>
              <a:t>x9-interval    y=1   y=2   y=3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onsolas"/>
              </a:rPr>
              <a:t>x9 &lt;= 0.13     108   112    56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1A1A1A"/>
                </a:solidFill>
                <a:latin typeface="Consolas"/>
              </a:rPr>
              <a:t>0.13 &lt; x9       58    75   116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697480"/>
            <a:ext cx="5394960" cy="2743200"/>
          </a:xfrm>
          <a:prstGeom prst="roundRect">
            <a:avLst/>
          </a:prstGeom>
          <a:solidFill>
            <a:srgbClr val="F2EFEC"/>
          </a:solidFill>
          <a:ln>
            <a:solidFill>
              <a:srgbClr val="99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83464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90000"/>
                </a:solidFill>
                <a:latin typeface="Calibri"/>
              </a:rPr>
              <a:t>GIVEN AS IMAGE (cropped from the exam PDF)</a:t>
            </a:r>
          </a:p>
        </p:txBody>
      </p:sp>
      <p:pic>
        <p:nvPicPr>
          <p:cNvPr id="10" name="Picture 9" descr="Fall2018_Q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337560"/>
            <a:ext cx="4297680" cy="2194035"/>
          </a:xfrm>
          <a:prstGeom prst="rect">
            <a:avLst/>
          </a:prstGeom>
          <a:ln w="9525">
            <a:solidFill>
              <a:srgbClr val="5A5A5A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02920" y="5623560"/>
            <a:ext cx="11155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Only the format of the data changes - the stem and options are identical in both arms.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5A5A"/>
                </a:solidFill>
                <a:latin typeface="Calibri"/>
              </a:rPr>
              <a:t>Gemma replies with one letter; we score correct / wrong (here the key is D).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8C8"/>
                </a:solidFill>
                <a:latin typeface="Calibri"/>
              </a:rPr>
              <a:t>THE DATA BEHIND THE TESTS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Accuracy numbers we feed into the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Accuracy by format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691640"/>
          <a:ext cx="6400800" cy="26243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173736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Format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Correct / n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pure text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98 / 134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73.1%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figure/table as text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80 / 127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63.0%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figure/table as image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54 / 127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42.5%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geometric figure (image only)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52 / 144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36.1%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12801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A1A1A"/>
                </a:solidFill>
                <a:latin typeface="Calibri"/>
              </a:rPr>
              <a:t>Paired set, image vs text (McNemar)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0" y="1691640"/>
          <a:ext cx="4389120" cy="1783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1417320"/>
                <a:gridCol w="141732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text right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text wrong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image right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45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image wrong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35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4206240"/>
            <a:ext cx="4389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127 paired questions; only the 44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5A5A"/>
                </a:solidFill>
                <a:latin typeface="Calibri"/>
              </a:rPr>
              <a:t>disagreements (35 vs 9) drive the test.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5486400"/>
            <a:ext cx="11201400" cy="868680"/>
          </a:xfrm>
          <a:prstGeom prst="roundRect">
            <a:avLst/>
          </a:prstGeom>
          <a:solidFill>
            <a:srgbClr val="F2EFEC"/>
          </a:solidFill>
          <a:ln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596128"/>
            <a:ext cx="107899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Calibri"/>
              </a:rPr>
              <a:t>Contamination check (exams Gemma may have seen vs. not):  pre-cutoff 263 / 498 = 52.8%   vs.   post-cutoff 46 / 68 = 67.6%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8C8"/>
                </a:solidFill>
                <a:latin typeface="Calibri"/>
              </a:rPr>
              <a:t>THE TESTS WE USE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Each test and why it fits a binary outcome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417320"/>
          <a:ext cx="11384279" cy="4663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4206240"/>
                <a:gridCol w="3977639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compares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Why it is appropriate</a:t>
                      </a:r>
                    </a:p>
                  </a:txBody>
                  <a:tcPr marL="109728" marR="73152" marT="27432" marB="27432" anchor="ctr">
                    <a:solidFill>
                      <a:srgbClr val="770000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Binomial test (exact)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each format's accuracy vs. 25% chance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exact test for one proportion; no large-n assumption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McNemar, exact (paired) - PRIMARY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same question as image vs. as text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the paired binary test; pairing removes question difficulty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Two-proportion z (unpaired)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text questions vs. pure-graph questions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standard 2-proportion test; n &gt; 130 per group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One-sided z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pre-cutoff vs. post-cutoff exams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2-proportion test; one-sided (contamination has a direction)</a:t>
                      </a:r>
                    </a:p>
                  </a:txBody>
                  <a:tcPr marL="109728" marR="73152" marT="27432" marB="27432" anchor="ctr">
                    <a:solidFill>
                      <a:srgbClr val="F2EFEC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95% confidence interval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every accuracy and difference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A1A1A"/>
                          </a:solidFill>
                          <a:latin typeface="Calibri"/>
                        </a:rPr>
                        <a:t>course-standard normal interval; paired diff uses paired formula</a:t>
                      </a:r>
                    </a:p>
                  </a:txBody>
                  <a:tcPr marL="109728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A1A1A"/>
                </a:solidFill>
                <a:latin typeface="Calibri"/>
              </a:rPr>
              <a:t>Binary outcome -&gt; the proportion / McNemar family (not t-tests or ANOVA, which need a numeric outcome).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99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0C8C8"/>
                </a:solidFill>
                <a:latin typeface="Calibri"/>
              </a:rPr>
              <a:t>WHAT WE WOULD LIKE YOUR INPUT ON</a:t>
            </a:r>
          </a:p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libri"/>
              </a:rPr>
              <a:t>Design choices to confirm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1.  Binary outcome (correct/wrong) -&gt; proportion / McNemar family rather than t-test / ANOVA. OK?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2.  McNemar is our single confirmatory (primary) test -&gt; we argue no multiple-testing correction is needed.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3.  The unpaired text-vs-graph z has difficulty confounded with format -&gt; we report it as secondary.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4.  Contamination test is one-sided (pre-cutoff &gt; post-cutoff). Is one-sided the right call?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5.  Confidence intervals use the 02402 normal approximation (we dropped Wilson / bootstrap as off-syllabus).</a:t>
            </a:r>
          </a:p>
          <a:p>
            <a:pPr algn="l">
              <a:spcAft>
                <a:spcPts val="600"/>
              </a:spcAft>
            </a:pPr>
            <a:r>
              <a:rPr sz="800" b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990000"/>
                </a:solidFill>
                <a:latin typeface="Calibri"/>
              </a:rPr>
              <a:t>Are these five choices appropriate, or would you change any before we scale up the analysis?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